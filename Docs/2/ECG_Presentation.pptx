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63332" cy="1645920"/>
          </a:xfrm>
        </p:spPr>
        <p:txBody>
          <a:bodyPr>
            <a:normAutofit/>
          </a:bodyPr>
          <a:lstStyle/>
          <a:p>
            <a:r>
              <a:rPr lang="en-US" sz="2800" dirty="0" err="1"/>
              <a:t>Dispozitiv</a:t>
            </a:r>
            <a:r>
              <a:rPr lang="en-US" sz="2800" dirty="0"/>
              <a:t> de </a:t>
            </a:r>
            <a:r>
              <a:rPr lang="en-US" sz="2800" dirty="0" err="1"/>
              <a:t>monitorizare</a:t>
            </a:r>
            <a:r>
              <a:rPr lang="en-US" sz="2800" dirty="0"/>
              <a:t> a </a:t>
            </a:r>
            <a:r>
              <a:rPr lang="en-US" sz="2800" dirty="0" err="1"/>
              <a:t>semnalului</a:t>
            </a:r>
            <a:r>
              <a:rPr lang="en-US" sz="2800" dirty="0"/>
              <a:t> ECG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Codreanu Dan</a:t>
            </a:r>
          </a:p>
          <a:p>
            <a:r>
              <a:rPr lang="en-US" sz="1600" dirty="0" err="1"/>
              <a:t>Facultatea</a:t>
            </a:r>
            <a:r>
              <a:rPr lang="en-US" sz="1600" dirty="0"/>
              <a:t> de </a:t>
            </a:r>
            <a:r>
              <a:rPr lang="en-US" sz="1600" dirty="0" err="1"/>
              <a:t>Inginerie</a:t>
            </a:r>
            <a:r>
              <a:rPr lang="en-US" sz="1600" dirty="0"/>
              <a:t> </a:t>
            </a:r>
            <a:r>
              <a:rPr lang="en-US" sz="1600" dirty="0" err="1"/>
              <a:t>Electrică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C6680-DFED-FD8D-E665-9B7BE6ED6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31" y="2734056"/>
            <a:ext cx="6831832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Context &amp; Stadiul actual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 </a:t>
            </a:r>
            <a:r>
              <a:rPr lang="en-US" sz="1600" b="1"/>
              <a:t>Stadiul actual</a:t>
            </a:r>
            <a:r>
              <a:rPr lang="en-US" sz="1600"/>
              <a:t>: Sisteme ECG clasice – 12 derivatii, Trecere spre   sisteme portabile / wearable, Utilizare RLD, filtrare hibrida.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 </a:t>
            </a:r>
            <a:r>
              <a:rPr lang="en-US" sz="1600" b="1"/>
              <a:t>Probleme majore</a:t>
            </a:r>
            <a:r>
              <a:rPr lang="en-US" sz="1600"/>
              <a:t>: Amplitudine mica (µV–mV), Zgomot 50Hz, Deriva liniei de baza.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22BBD6-3A63-68CF-DC0E-1A8EDA1A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8" r="2826" b="-1"/>
          <a:stretch>
            <a:fillRect/>
          </a:stretch>
        </p:blipFill>
        <p:spPr>
          <a:xfrm>
            <a:off x="1057276" y="2454441"/>
            <a:ext cx="7172324" cy="42606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 dirty="0" err="1"/>
              <a:t>Obiectivul</a:t>
            </a:r>
            <a:r>
              <a:rPr lang="en-US" sz="2800" dirty="0"/>
              <a:t> </a:t>
            </a:r>
            <a:r>
              <a:rPr lang="en-US" sz="2800" dirty="0" err="1"/>
              <a:t>lucrarii</a:t>
            </a:r>
            <a:endParaRPr lang="en-US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Proiectarea</a:t>
            </a:r>
            <a:r>
              <a:rPr lang="en-US" sz="1600" dirty="0"/>
              <a:t> </a:t>
            </a:r>
            <a:r>
              <a:rPr lang="en-US" sz="1600" dirty="0" err="1"/>
              <a:t>unui</a:t>
            </a:r>
            <a:r>
              <a:rPr lang="en-US" sz="1600" dirty="0"/>
              <a:t> </a:t>
            </a:r>
            <a:r>
              <a:rPr lang="en-US" sz="1600" dirty="0" err="1"/>
              <a:t>dispozitiv</a:t>
            </a:r>
            <a:r>
              <a:rPr lang="en-US" sz="1600" dirty="0"/>
              <a:t> ECG low-cost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Filtrare</a:t>
            </a:r>
            <a:r>
              <a:rPr lang="en-US" sz="1600" dirty="0"/>
              <a:t> </a:t>
            </a:r>
            <a:r>
              <a:rPr lang="en-US" sz="1600" dirty="0" err="1"/>
              <a:t>analogica</a:t>
            </a:r>
            <a:r>
              <a:rPr lang="en-US" sz="1600" dirty="0"/>
              <a:t> minima + </a:t>
            </a:r>
            <a:r>
              <a:rPr lang="en-US" sz="1600" dirty="0" err="1"/>
              <a:t>procesare</a:t>
            </a:r>
            <a:r>
              <a:rPr lang="en-US" sz="1600" dirty="0"/>
              <a:t> </a:t>
            </a:r>
            <a:r>
              <a:rPr lang="en-US" sz="1600" dirty="0" err="1"/>
              <a:t>digitala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Obtinerea</a:t>
            </a:r>
            <a:r>
              <a:rPr lang="en-US" sz="1600" dirty="0"/>
              <a:t> </a:t>
            </a:r>
            <a:r>
              <a:rPr lang="en-US" sz="1600" dirty="0" err="1"/>
              <a:t>parametrilor</a:t>
            </a:r>
            <a:r>
              <a:rPr lang="en-US" sz="1600" dirty="0"/>
              <a:t> BPM, QRS, HRV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B9288D-88AB-CA9B-CABF-D927C6CBD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47" y="2734056"/>
            <a:ext cx="6451600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Contribu</a:t>
            </a:r>
            <a:r>
              <a:rPr lang="en-GB" dirty="0"/>
              <a:t>t</a:t>
            </a:r>
            <a:r>
              <a:rPr dirty="0"/>
              <a:t>ii </a:t>
            </a:r>
            <a:r>
              <a:rPr dirty="0" err="1"/>
              <a:t>personale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implementare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dirty="0" err="1"/>
              <a:t>Generare</a:t>
            </a:r>
            <a:r>
              <a:rPr sz="2800" dirty="0"/>
              <a:t> </a:t>
            </a:r>
            <a:r>
              <a:rPr sz="2800" dirty="0" err="1"/>
              <a:t>semnal</a:t>
            </a:r>
            <a:r>
              <a:rPr sz="2800" dirty="0"/>
              <a:t> ECG (Python)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Model </a:t>
            </a:r>
            <a:r>
              <a:rPr lang="en-US" sz="2800" dirty="0" err="1"/>
              <a:t>pacient</a:t>
            </a:r>
            <a:r>
              <a:rPr lang="en-US" sz="2800" dirty="0"/>
              <a:t> cu </a:t>
            </a:r>
            <a:r>
              <a:rPr lang="en-US" sz="2800" dirty="0" err="1"/>
              <a:t>simulare</a:t>
            </a:r>
            <a:r>
              <a:rPr lang="en-US" sz="2800" dirty="0"/>
              <a:t> </a:t>
            </a:r>
            <a:r>
              <a:rPr lang="en-US" sz="2800" dirty="0" err="1"/>
              <a:t>zgomot</a:t>
            </a:r>
            <a:r>
              <a:rPr lang="en-US" sz="2800" dirty="0"/>
              <a:t> 50Hz</a:t>
            </a:r>
            <a:endParaRPr sz="2800" dirty="0"/>
          </a:p>
          <a:p>
            <a:pPr>
              <a:buFont typeface="Arial" panose="020B0604020202020204" pitchFamily="34" charset="0"/>
              <a:buChar char="•"/>
            </a:pPr>
            <a:r>
              <a:rPr sz="2800" dirty="0"/>
              <a:t>Lan</a:t>
            </a:r>
            <a:r>
              <a:rPr lang="en-GB" sz="2800" dirty="0"/>
              <a:t>t</a:t>
            </a:r>
            <a:r>
              <a:rPr sz="2800" dirty="0"/>
              <a:t> analogic: AD620 + RLD + </a:t>
            </a:r>
            <a:r>
              <a:rPr sz="2800" dirty="0" err="1"/>
              <a:t>filtre</a:t>
            </a:r>
            <a:r>
              <a:rPr sz="2800" dirty="0"/>
              <a:t> active</a:t>
            </a:r>
            <a:r>
              <a:rPr lang="en-GB" sz="2800" dirty="0"/>
              <a:t> Sallen 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Corectie</a:t>
            </a:r>
            <a:r>
              <a:rPr lang="en-US" sz="2800" dirty="0"/>
              <a:t> offset + </a:t>
            </a:r>
            <a:r>
              <a:rPr lang="en-US" sz="2800" dirty="0" err="1"/>
              <a:t>centrare</a:t>
            </a:r>
            <a:r>
              <a:rPr lang="en-US" sz="2800" dirty="0"/>
              <a:t> ADC</a:t>
            </a:r>
            <a:endParaRPr sz="2800" dirty="0"/>
          </a:p>
          <a:p>
            <a:pPr>
              <a:buFont typeface="Arial" panose="020B0604020202020204" pitchFamily="34" charset="0"/>
              <a:buChar char="•"/>
            </a:pPr>
            <a:r>
              <a:rPr sz="2800" dirty="0" err="1"/>
              <a:t>Algoritmi</a:t>
            </a:r>
            <a:r>
              <a:rPr sz="2800" dirty="0"/>
              <a:t> software: </a:t>
            </a:r>
            <a:endParaRPr lang="en-GB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R-peak, </a:t>
            </a:r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BPM, </a:t>
            </a:r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QRS, </a:t>
            </a:r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HRV</a:t>
            </a:r>
            <a:r>
              <a:rPr lang="en-GB" sz="2400" dirty="0"/>
              <a:t> (</a:t>
            </a:r>
            <a:r>
              <a:rPr lang="en-US" sz="2400" dirty="0"/>
              <a:t>SDNN, RMSSD, pNN50)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Afisarea</a:t>
            </a:r>
            <a:r>
              <a:rPr lang="en-US" sz="2800" dirty="0"/>
              <a:t> </a:t>
            </a:r>
            <a:r>
              <a:rPr lang="en-US" sz="2800" dirty="0" err="1"/>
              <a:t>datelor</a:t>
            </a:r>
            <a:r>
              <a:rPr lang="en-US" sz="2800" dirty="0"/>
              <a:t> pe un </a:t>
            </a:r>
            <a:r>
              <a:rPr lang="en-US" sz="2800" dirty="0" err="1"/>
              <a:t>ecran</a:t>
            </a:r>
            <a:r>
              <a:rPr lang="en-US" sz="2800" dirty="0"/>
              <a:t> LCD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A7B1610-C2AC-4530-AE39-7B5BCC765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" y="-856"/>
            <a:ext cx="9156401" cy="68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58" y="332194"/>
            <a:ext cx="2431159" cy="1143000"/>
          </a:xfrm>
        </p:spPr>
        <p:txBody>
          <a:bodyPr anchor="b">
            <a:normAutofit fontScale="90000"/>
          </a:bodyPr>
          <a:lstStyle/>
          <a:p>
            <a:r>
              <a:rPr lang="en-US" sz="3500" dirty="0" err="1"/>
              <a:t>Metodologie</a:t>
            </a:r>
            <a:r>
              <a:rPr lang="en-US" sz="3500" dirty="0"/>
              <a:t> &amp; </a:t>
            </a:r>
            <a:r>
              <a:rPr lang="en-US" sz="3500" dirty="0" err="1"/>
              <a:t>validare</a:t>
            </a:r>
            <a:endParaRPr lang="en-US" sz="3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73418-3991-ECB3-315C-283B3F76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6" r="14601"/>
          <a:stretch>
            <a:fillRect/>
          </a:stretch>
        </p:blipFill>
        <p:spPr>
          <a:xfrm>
            <a:off x="2863683" y="163646"/>
            <a:ext cx="6131259" cy="26230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58" y="1581150"/>
            <a:ext cx="2565567" cy="4533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Simulare</a:t>
            </a:r>
            <a:r>
              <a:rPr lang="en-US" sz="1700" dirty="0"/>
              <a:t> completa </a:t>
            </a:r>
            <a:r>
              <a:rPr lang="en-US" sz="1700" dirty="0" err="1"/>
              <a:t>în</a:t>
            </a:r>
            <a:r>
              <a:rPr lang="en-US" sz="1700" dirty="0"/>
              <a:t> Proteus</a:t>
            </a:r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Testare</a:t>
            </a:r>
            <a:r>
              <a:rPr lang="en-US" sz="1700" dirty="0"/>
              <a:t> cu </a:t>
            </a:r>
            <a:r>
              <a:rPr lang="en-US" sz="1700" dirty="0" err="1"/>
              <a:t>zgomot</a:t>
            </a:r>
            <a:r>
              <a:rPr lang="en-US" sz="1700" dirty="0"/>
              <a:t> </a:t>
            </a:r>
            <a:r>
              <a:rPr lang="en-US" sz="1700" dirty="0" err="1"/>
              <a:t>redus</a:t>
            </a:r>
            <a:r>
              <a:rPr lang="en-US" sz="1700" dirty="0"/>
              <a:t> </a:t>
            </a:r>
            <a:r>
              <a:rPr lang="en-US" sz="1700" dirty="0" err="1"/>
              <a:t>si</a:t>
            </a:r>
            <a:r>
              <a:rPr lang="en-US" sz="1700" dirty="0"/>
              <a:t> </a:t>
            </a:r>
            <a:r>
              <a:rPr lang="en-US" sz="1700" dirty="0" err="1"/>
              <a:t>ridicat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Compararea</a:t>
            </a:r>
            <a:r>
              <a:rPr lang="en-US" sz="1700" dirty="0"/>
              <a:t> </a:t>
            </a:r>
            <a:r>
              <a:rPr lang="en-US" sz="1700" dirty="0" err="1"/>
              <a:t>rezultatelor</a:t>
            </a:r>
            <a:r>
              <a:rPr lang="en-US" sz="1700" dirty="0"/>
              <a:t> </a:t>
            </a:r>
            <a:r>
              <a:rPr lang="en-US" sz="1700" dirty="0" err="1"/>
              <a:t>obtinute</a:t>
            </a: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84253-28F4-C347-F2BB-A2D2F093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69" r="17015" b="-2"/>
          <a:stretch>
            <a:fillRect/>
          </a:stretch>
        </p:blipFill>
        <p:spPr>
          <a:xfrm>
            <a:off x="2863683" y="2956875"/>
            <a:ext cx="6131259" cy="3352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99E115D7-68EB-4590-9BD1-A56D9414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86" y="86769"/>
            <a:ext cx="2112264" cy="940453"/>
          </a:xfrm>
        </p:spPr>
        <p:txBody>
          <a:bodyPr anchor="b">
            <a:normAutofit/>
          </a:bodyPr>
          <a:lstStyle/>
          <a:p>
            <a:r>
              <a:rPr lang="en-US" sz="3500" dirty="0" err="1"/>
              <a:t>Rezultate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30" y="1113991"/>
            <a:ext cx="2111121" cy="3717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• BPM </a:t>
            </a:r>
            <a:r>
              <a:rPr lang="en-US" sz="1700" dirty="0" err="1"/>
              <a:t>stabil</a:t>
            </a:r>
            <a:r>
              <a:rPr lang="en-US" sz="1700" dirty="0"/>
              <a:t> </a:t>
            </a:r>
            <a:r>
              <a:rPr lang="en-US" sz="1700" dirty="0" err="1"/>
              <a:t>chiar</a:t>
            </a:r>
            <a:r>
              <a:rPr lang="en-US" sz="1700" dirty="0"/>
              <a:t> </a:t>
            </a:r>
            <a:r>
              <a:rPr lang="en-US" sz="1700" dirty="0" err="1"/>
              <a:t>si</a:t>
            </a:r>
            <a:r>
              <a:rPr lang="en-US" sz="1700" dirty="0"/>
              <a:t> cu </a:t>
            </a:r>
            <a:r>
              <a:rPr lang="en-US" sz="1700" dirty="0" err="1"/>
              <a:t>zgomot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Detecție</a:t>
            </a:r>
            <a:r>
              <a:rPr lang="en-US" sz="1700" dirty="0"/>
              <a:t> </a:t>
            </a:r>
            <a:r>
              <a:rPr lang="en-US" sz="1700" dirty="0" err="1"/>
              <a:t>corecta</a:t>
            </a:r>
            <a:r>
              <a:rPr lang="en-US" sz="1700" dirty="0"/>
              <a:t> QRS</a:t>
            </a:r>
          </a:p>
          <a:p>
            <a:pPr marL="0" indent="0">
              <a:buNone/>
            </a:pPr>
            <a:r>
              <a:rPr lang="en-US" sz="1700" dirty="0"/>
              <a:t>• HRV </a:t>
            </a:r>
            <a:r>
              <a:rPr lang="en-US" sz="1700" dirty="0" err="1"/>
              <a:t>sensibil</a:t>
            </a:r>
            <a:r>
              <a:rPr lang="en-US" sz="1700" dirty="0"/>
              <a:t> la </a:t>
            </a:r>
            <a:r>
              <a:rPr lang="en-US" sz="1700" dirty="0" err="1"/>
              <a:t>perturbatii</a:t>
            </a:r>
            <a:endParaRPr lang="en-US" sz="17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CA77EA9-7472-BAB8-5DAF-BBC95931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02" t="12456" r="6555"/>
          <a:stretch>
            <a:fillRect/>
          </a:stretch>
        </p:blipFill>
        <p:spPr>
          <a:xfrm>
            <a:off x="6073520" y="-9591"/>
            <a:ext cx="3067050" cy="354051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81486F5-43A8-7E32-A155-4670FB2851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9" t="12220" r="17880" b="1"/>
          <a:stretch>
            <a:fillRect/>
          </a:stretch>
        </p:blipFill>
        <p:spPr>
          <a:xfrm>
            <a:off x="6074664" y="3530919"/>
            <a:ext cx="3067050" cy="332708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F1E90F6-433A-FB83-1E4F-0A0C6FF64A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16" r="1230" b="-3"/>
          <a:stretch>
            <a:fillRect/>
          </a:stretch>
        </p:blipFill>
        <p:spPr>
          <a:xfrm>
            <a:off x="2228850" y="0"/>
            <a:ext cx="3848100" cy="350504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8BF9F0A-691A-F68F-B8FC-C81FAB1A6C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26" r="4915"/>
          <a:stretch>
            <a:fillRect/>
          </a:stretch>
        </p:blipFill>
        <p:spPr>
          <a:xfrm>
            <a:off x="2263694" y="3517547"/>
            <a:ext cx="3813256" cy="3327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41391"/>
            <a:ext cx="3908475" cy="1616203"/>
          </a:xfrm>
        </p:spPr>
        <p:txBody>
          <a:bodyPr anchor="b">
            <a:normAutofit/>
          </a:bodyPr>
          <a:lstStyle/>
          <a:p>
            <a:r>
              <a:rPr lang="en-US" sz="2800" dirty="0" err="1"/>
              <a:t>Concluzii</a:t>
            </a:r>
            <a:r>
              <a:rPr lang="en-US" sz="2800" dirty="0"/>
              <a:t> &amp; </a:t>
            </a:r>
            <a:r>
              <a:rPr lang="en-US" sz="2800" dirty="0" err="1"/>
              <a:t>dezvoltari</a:t>
            </a:r>
            <a:r>
              <a:rPr lang="en-US" sz="2800" dirty="0"/>
              <a:t> </a:t>
            </a:r>
            <a:r>
              <a:rPr lang="en-US" sz="2800" dirty="0" err="1"/>
              <a:t>viitoare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C0F0B-B63B-F39A-8284-5A2882E5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6" r="18619" b="1"/>
          <a:stretch>
            <a:fillRect/>
          </a:stretch>
        </p:blipFill>
        <p:spPr>
          <a:xfrm>
            <a:off x="20" y="-18829"/>
            <a:ext cx="4075465" cy="345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8E02C-6FF9-E9EC-EEF0-CDA848F0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92" b="2"/>
          <a:stretch>
            <a:fillRect/>
          </a:stretch>
        </p:blipFill>
        <p:spPr>
          <a:xfrm>
            <a:off x="20" y="3421856"/>
            <a:ext cx="4075466" cy="344783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23615DC-F5A3-677C-DB79-DA387F11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B2E658-9767-8805-2BCB-63F4F3AEC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A709A9-EE8C-7D2E-43D2-E8A342BA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2533476"/>
            <a:ext cx="390847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Filtrare</a:t>
            </a:r>
            <a:r>
              <a:rPr lang="en-US" sz="1700" dirty="0"/>
              <a:t> </a:t>
            </a:r>
            <a:r>
              <a:rPr lang="en-US" sz="1700" dirty="0" err="1"/>
              <a:t>hibrida</a:t>
            </a:r>
            <a:r>
              <a:rPr lang="en-US" sz="1700" dirty="0"/>
              <a:t> </a:t>
            </a:r>
            <a:r>
              <a:rPr lang="en-US" sz="1700" dirty="0" err="1"/>
              <a:t>eficienta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Sistem</a:t>
            </a:r>
            <a:r>
              <a:rPr lang="en-US" sz="1700" dirty="0"/>
              <a:t> </a:t>
            </a:r>
            <a:r>
              <a:rPr lang="en-US" sz="1700" dirty="0" err="1"/>
              <a:t>stabil</a:t>
            </a:r>
            <a:r>
              <a:rPr lang="en-US" sz="1700" dirty="0"/>
              <a:t> pe </a:t>
            </a:r>
            <a:r>
              <a:rPr lang="en-US" sz="1700" dirty="0" err="1"/>
              <a:t>platforma</a:t>
            </a:r>
            <a:r>
              <a:rPr lang="en-US" sz="1700" dirty="0"/>
              <a:t> </a:t>
            </a:r>
            <a:r>
              <a:rPr lang="en-US" sz="1700" dirty="0" err="1"/>
              <a:t>simpla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dirty="0" err="1"/>
              <a:t>Posibil</a:t>
            </a:r>
            <a:r>
              <a:rPr lang="en-US" sz="1700" dirty="0"/>
              <a:t> upgrade hardware </a:t>
            </a:r>
            <a:r>
              <a:rPr lang="en-US" sz="1700" dirty="0" err="1"/>
              <a:t>si</a:t>
            </a:r>
            <a:r>
              <a:rPr lang="en-US" sz="1700" dirty="0"/>
              <a:t> </a:t>
            </a:r>
            <a:r>
              <a:rPr lang="en-US" sz="1700" dirty="0" err="1"/>
              <a:t>testare</a:t>
            </a:r>
            <a:r>
              <a:rPr lang="en-US" sz="1700" dirty="0"/>
              <a:t> </a:t>
            </a:r>
            <a:r>
              <a:rPr lang="en-US" sz="1700" dirty="0" err="1"/>
              <a:t>reala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197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Dispozitiv de monitorizare a semnalului ECG</vt:lpstr>
      <vt:lpstr>Context &amp; Stadiul actual</vt:lpstr>
      <vt:lpstr>Obiectivul lucrarii</vt:lpstr>
      <vt:lpstr>Contributii personale si implementare</vt:lpstr>
      <vt:lpstr>PowerPoint Presentation</vt:lpstr>
      <vt:lpstr>Metodologie &amp; validare</vt:lpstr>
      <vt:lpstr>Rezultate</vt:lpstr>
      <vt:lpstr>Concluzii &amp; dezvoltari viitoare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Codreanu</cp:lastModifiedBy>
  <cp:revision>4</cp:revision>
  <dcterms:created xsi:type="dcterms:W3CDTF">2013-01-27T09:14:16Z</dcterms:created>
  <dcterms:modified xsi:type="dcterms:W3CDTF">2026-01-11T16:38:37Z</dcterms:modified>
  <cp:category/>
</cp:coreProperties>
</file>